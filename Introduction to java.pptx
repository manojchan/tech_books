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57" r:id="rId6"/>
    <p:sldId id="258" r:id="rId7"/>
    <p:sldId id="259" r:id="rId8"/>
    <p:sldId id="260" r:id="rId9"/>
    <p:sldId id="261" r:id="rId10"/>
    <p:sldId id="262" r:id="rId11"/>
    <p:sldId id="26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1C139CB-E496-4D8E-8E0A-31FCF3D7DD98}" type="datetimeFigureOut">
              <a:rPr lang="en-US" smtClean="0"/>
              <a:pPr/>
              <a:t>8/8/2016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C139CB-E496-4D8E-8E0A-31FCF3D7DD98}" type="datetimeFigureOut">
              <a:rPr lang="en-US" smtClean="0"/>
              <a:pPr/>
              <a:t>8/8/2016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1C139CB-E496-4D8E-8E0A-31FCF3D7DD98}" type="datetimeFigureOut">
              <a:rPr lang="en-US" smtClean="0"/>
              <a:pPr/>
              <a:t>8/8/2016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1C139CB-E496-4D8E-8E0A-31FCF3D7DD98}" type="datetimeFigureOut">
              <a:rPr lang="en-US" smtClean="0"/>
              <a:pPr/>
              <a:t>8/8/2016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1C139CB-E496-4D8E-8E0A-31FCF3D7DD98}" type="datetimeFigureOut">
              <a:rPr lang="en-US" smtClean="0"/>
              <a:pPr/>
              <a:t>8/8/2016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1C139CB-E496-4D8E-8E0A-31FCF3D7DD98}" type="datetimeFigureOut">
              <a:rPr lang="en-US" smtClean="0"/>
              <a:pPr/>
              <a:t>8/8/2016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C139CB-E496-4D8E-8E0A-31FCF3D7DD98}" type="datetimeFigureOut">
              <a:rPr lang="en-US" smtClean="0"/>
              <a:pPr/>
              <a:t>8/8/2016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C139CB-E496-4D8E-8E0A-31FCF3D7DD98}" type="datetimeFigureOut">
              <a:rPr lang="en-US" smtClean="0"/>
              <a:pPr/>
              <a:t>8/8/2016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C139CB-E496-4D8E-8E0A-31FCF3D7DD98}" type="datetimeFigureOut">
              <a:rPr lang="en-US" smtClean="0"/>
              <a:pPr/>
              <a:t>8/8/2016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C139CB-E496-4D8E-8E0A-31FCF3D7DD98}" type="datetimeFigureOut">
              <a:rPr lang="en-US" smtClean="0"/>
              <a:pPr/>
              <a:t>8/8/2016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C139CB-E496-4D8E-8E0A-31FCF3D7DD98}" type="datetimeFigureOut">
              <a:rPr lang="en-US" smtClean="0"/>
              <a:pPr/>
              <a:t>8/8/2016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B0D72-05EE-49D1-9DE0-3F0F9974B20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C139CB-E496-4D8E-8E0A-31FCF3D7DD98}" type="datetimeFigureOut">
              <a:rPr lang="en-US" smtClean="0"/>
              <a:pPr/>
              <a:t>8/8/2016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FB0D72-05EE-49D1-9DE0-3F0F9974B20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a:lstStyle/>
          <a:p>
            <a:r>
              <a:rPr lang="en-US" dirty="0" smtClean="0"/>
              <a:t>Introduction to java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What is java</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304800"/>
            <a:ext cx="8610600" cy="6324600"/>
          </a:xfrm>
        </p:spPr>
        <p:txBody>
          <a:bodyPr>
            <a:normAutofit/>
          </a:bodyPr>
          <a:lstStyle/>
          <a:p>
            <a:pPr algn="l"/>
            <a:r>
              <a:rPr lang="en-US" sz="1800" dirty="0" smtClean="0">
                <a:solidFill>
                  <a:schemeClr val="tx1"/>
                </a:solidFill>
              </a:rPr>
              <a:t>Java </a:t>
            </a:r>
            <a:r>
              <a:rPr lang="en-US" sz="1800" dirty="0" smtClean="0">
                <a:solidFill>
                  <a:schemeClr val="tx1"/>
                </a:solidFill>
              </a:rPr>
              <a:t>is a </a:t>
            </a:r>
            <a:r>
              <a:rPr lang="en-US" sz="1800" b="1" dirty="0" smtClean="0">
                <a:solidFill>
                  <a:schemeClr val="tx1"/>
                </a:solidFill>
              </a:rPr>
              <a:t>programming language</a:t>
            </a:r>
            <a:r>
              <a:rPr lang="en-US" sz="1800" dirty="0" smtClean="0">
                <a:solidFill>
                  <a:schemeClr val="tx1"/>
                </a:solidFill>
              </a:rPr>
              <a:t> and a </a:t>
            </a:r>
            <a:r>
              <a:rPr lang="en-US" sz="1800" b="1" dirty="0" smtClean="0">
                <a:solidFill>
                  <a:schemeClr val="tx1"/>
                </a:solidFill>
              </a:rPr>
              <a:t>platform</a:t>
            </a:r>
            <a:r>
              <a:rPr lang="en-US" sz="1800" dirty="0" smtClean="0">
                <a:solidFill>
                  <a:schemeClr val="tx1"/>
                </a:solidFill>
              </a:rPr>
              <a:t>.</a:t>
            </a:r>
          </a:p>
          <a:p>
            <a:pPr algn="l"/>
            <a:r>
              <a:rPr lang="en-US" sz="1800" dirty="0" smtClean="0">
                <a:solidFill>
                  <a:schemeClr val="tx1"/>
                </a:solidFill>
              </a:rPr>
              <a:t>Java is a high level, robust, secured and object-oriented programming language.</a:t>
            </a:r>
          </a:p>
          <a:p>
            <a:pPr algn="l"/>
            <a:r>
              <a:rPr lang="en-US" sz="1800" b="1" dirty="0" smtClean="0">
                <a:solidFill>
                  <a:schemeClr val="tx1"/>
                </a:solidFill>
              </a:rPr>
              <a:t>Platform</a:t>
            </a:r>
            <a:r>
              <a:rPr lang="en-US" sz="1800" dirty="0" smtClean="0">
                <a:solidFill>
                  <a:schemeClr val="tx1"/>
                </a:solidFill>
              </a:rPr>
              <a:t>: Any hardware or software environment in which a program runs, is known as a platform. Since Java has its own runtime environment (JRE) and API, it is called platform</a:t>
            </a:r>
            <a:r>
              <a:rPr lang="en-US" sz="1800" dirty="0" smtClean="0">
                <a:solidFill>
                  <a:schemeClr val="tx1"/>
                </a:solidFill>
              </a:rPr>
              <a:t>.</a:t>
            </a:r>
          </a:p>
          <a:p>
            <a:pPr algn="l"/>
            <a:endParaRPr lang="en-US" sz="1800" dirty="0" smtClean="0">
              <a:solidFill>
                <a:schemeClr val="tx1"/>
              </a:solidFill>
            </a:endParaRPr>
          </a:p>
          <a:p>
            <a:pPr algn="l"/>
            <a:endParaRPr lang="en-US" sz="1800" dirty="0" smtClean="0">
              <a:solidFill>
                <a:schemeClr val="tx1"/>
              </a:solidFill>
            </a:endParaRPr>
          </a:p>
          <a:p>
            <a:pPr algn="l"/>
            <a:r>
              <a:rPr lang="en-US" sz="1800" dirty="0" smtClean="0">
                <a:solidFill>
                  <a:schemeClr val="tx1"/>
                </a:solidFill>
              </a:rPr>
              <a:t>Where it is used?</a:t>
            </a:r>
          </a:p>
          <a:p>
            <a:pPr algn="l"/>
            <a:r>
              <a:rPr lang="en-US" sz="1800" dirty="0" smtClean="0">
                <a:solidFill>
                  <a:schemeClr val="tx1"/>
                </a:solidFill>
              </a:rPr>
              <a:t>According to Sun, 3 billion devices run java. There are many devices where java is currently used. Some of them are as follows:</a:t>
            </a:r>
          </a:p>
          <a:p>
            <a:pPr algn="l"/>
            <a:r>
              <a:rPr lang="en-US" sz="1800" dirty="0" smtClean="0">
                <a:solidFill>
                  <a:schemeClr val="tx1"/>
                </a:solidFill>
              </a:rPr>
              <a:t>Desktop Applications such as acrobat reader, media player, antivirus etc.</a:t>
            </a:r>
          </a:p>
          <a:p>
            <a:pPr algn="l"/>
            <a:r>
              <a:rPr lang="en-US" sz="1800" dirty="0" smtClean="0">
                <a:solidFill>
                  <a:schemeClr val="tx1"/>
                </a:solidFill>
              </a:rPr>
              <a:t>Web Applications </a:t>
            </a:r>
            <a:r>
              <a:rPr lang="en-US" sz="1800" dirty="0" smtClean="0">
                <a:solidFill>
                  <a:schemeClr val="tx1"/>
                </a:solidFill>
              </a:rPr>
              <a:t>internet application etc</a:t>
            </a:r>
            <a:r>
              <a:rPr lang="en-US" sz="1800" dirty="0" smtClean="0">
                <a:solidFill>
                  <a:schemeClr val="tx1"/>
                </a:solidFill>
              </a:rPr>
              <a:t>.</a:t>
            </a:r>
          </a:p>
          <a:p>
            <a:pPr algn="l"/>
            <a:r>
              <a:rPr lang="en-US" sz="1800" dirty="0" smtClean="0">
                <a:solidFill>
                  <a:schemeClr val="tx1"/>
                </a:solidFill>
              </a:rPr>
              <a:t>Enterprise Applications such as banking applications.</a:t>
            </a:r>
          </a:p>
          <a:p>
            <a:pPr algn="l"/>
            <a:r>
              <a:rPr lang="en-US" sz="1800" dirty="0" smtClean="0">
                <a:solidFill>
                  <a:schemeClr val="tx1"/>
                </a:solidFill>
              </a:rPr>
              <a:t>Mobile</a:t>
            </a:r>
          </a:p>
          <a:p>
            <a:pPr algn="l"/>
            <a:r>
              <a:rPr lang="en-US" sz="1800" dirty="0" smtClean="0">
                <a:solidFill>
                  <a:schemeClr val="tx1"/>
                </a:solidFill>
              </a:rPr>
              <a:t>Embedded System</a:t>
            </a:r>
          </a:p>
          <a:p>
            <a:pPr algn="l"/>
            <a:r>
              <a:rPr lang="en-US" sz="1800" dirty="0" smtClean="0">
                <a:solidFill>
                  <a:schemeClr val="tx1"/>
                </a:solidFill>
              </a:rPr>
              <a:t>Smart Card</a:t>
            </a:r>
          </a:p>
          <a:p>
            <a:pPr algn="l"/>
            <a:r>
              <a:rPr lang="en-US" sz="1800" dirty="0" smtClean="0">
                <a:solidFill>
                  <a:schemeClr val="tx1"/>
                </a:solidFill>
              </a:rPr>
              <a:t>Robotics</a:t>
            </a:r>
          </a:p>
          <a:p>
            <a:pPr algn="l"/>
            <a:r>
              <a:rPr lang="en-US" sz="1800" dirty="0" smtClean="0">
                <a:solidFill>
                  <a:schemeClr val="tx1"/>
                </a:solidFill>
              </a:rPr>
              <a:t>Games etc.</a:t>
            </a:r>
          </a:p>
          <a:p>
            <a:pPr algn="l"/>
            <a:endParaRPr lang="en-US" sz="18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304800"/>
            <a:ext cx="8610600" cy="6324600"/>
          </a:xfrm>
        </p:spPr>
        <p:txBody>
          <a:bodyPr/>
          <a:lstStyle/>
          <a:p>
            <a:pPr algn="l"/>
            <a:r>
              <a:rPr lang="en-US" dirty="0" smtClean="0">
                <a:solidFill>
                  <a:schemeClr val="tx1"/>
                </a:solidFill>
              </a:rPr>
              <a:t>Types</a:t>
            </a:r>
          </a:p>
          <a:p>
            <a:pPr algn="l"/>
            <a:r>
              <a:rPr lang="en-US" sz="1600" b="1" dirty="0" smtClean="0">
                <a:solidFill>
                  <a:schemeClr val="tx1"/>
                </a:solidFill>
              </a:rPr>
              <a:t>Standalone Application</a:t>
            </a:r>
          </a:p>
          <a:p>
            <a:pPr algn="l"/>
            <a:r>
              <a:rPr lang="en-US" sz="1600" dirty="0" smtClean="0">
                <a:solidFill>
                  <a:schemeClr val="tx1"/>
                </a:solidFill>
              </a:rPr>
              <a:t>It is also known as desktop application or window-based application. An application that we need to install on every machine such as media player, antivirus etc. AWT and Swing are used in java for creating standalone applications</a:t>
            </a:r>
            <a:r>
              <a:rPr lang="en-US" sz="1600" dirty="0" smtClean="0">
                <a:solidFill>
                  <a:schemeClr val="tx1"/>
                </a:solidFill>
              </a:rPr>
              <a:t>.</a:t>
            </a:r>
          </a:p>
          <a:p>
            <a:pPr algn="l"/>
            <a:endParaRPr lang="en-US" sz="1600" dirty="0" smtClean="0">
              <a:solidFill>
                <a:schemeClr val="tx1"/>
              </a:solidFill>
            </a:endParaRPr>
          </a:p>
          <a:p>
            <a:pPr algn="l"/>
            <a:r>
              <a:rPr lang="en-US" sz="1600" b="1" dirty="0" smtClean="0">
                <a:solidFill>
                  <a:schemeClr val="tx1"/>
                </a:solidFill>
              </a:rPr>
              <a:t>Web Application</a:t>
            </a:r>
          </a:p>
          <a:p>
            <a:pPr algn="l"/>
            <a:r>
              <a:rPr lang="en-US" sz="1600" dirty="0" smtClean="0">
                <a:solidFill>
                  <a:schemeClr val="tx1"/>
                </a:solidFill>
              </a:rPr>
              <a:t>An application that runs on the server side and creates dynamic page, is called web application. Currently, </a:t>
            </a:r>
            <a:r>
              <a:rPr lang="en-US" sz="1600" dirty="0" err="1" smtClean="0">
                <a:solidFill>
                  <a:schemeClr val="tx1"/>
                </a:solidFill>
              </a:rPr>
              <a:t>servlet</a:t>
            </a:r>
            <a:r>
              <a:rPr lang="en-US" sz="1600" dirty="0" smtClean="0">
                <a:solidFill>
                  <a:schemeClr val="tx1"/>
                </a:solidFill>
              </a:rPr>
              <a:t>, </a:t>
            </a:r>
            <a:r>
              <a:rPr lang="en-US" sz="1600" dirty="0" err="1" smtClean="0">
                <a:solidFill>
                  <a:schemeClr val="tx1"/>
                </a:solidFill>
              </a:rPr>
              <a:t>jsp</a:t>
            </a:r>
            <a:r>
              <a:rPr lang="en-US" sz="1600" dirty="0" smtClean="0">
                <a:solidFill>
                  <a:schemeClr val="tx1"/>
                </a:solidFill>
              </a:rPr>
              <a:t>, struts, </a:t>
            </a:r>
            <a:r>
              <a:rPr lang="en-US" sz="1600" dirty="0" err="1" smtClean="0">
                <a:solidFill>
                  <a:schemeClr val="tx1"/>
                </a:solidFill>
              </a:rPr>
              <a:t>jsf</a:t>
            </a:r>
            <a:r>
              <a:rPr lang="en-US" sz="1600" dirty="0" smtClean="0">
                <a:solidFill>
                  <a:schemeClr val="tx1"/>
                </a:solidFill>
              </a:rPr>
              <a:t> etc. technologies are used for creating web applications in java</a:t>
            </a:r>
            <a:r>
              <a:rPr lang="en-US" sz="1600" dirty="0" smtClean="0">
                <a:solidFill>
                  <a:schemeClr val="tx1"/>
                </a:solidFill>
              </a:rPr>
              <a:t>.</a:t>
            </a:r>
          </a:p>
          <a:p>
            <a:pPr algn="l"/>
            <a:endParaRPr lang="en-US" sz="1600" dirty="0" smtClean="0">
              <a:solidFill>
                <a:schemeClr val="tx1"/>
              </a:solidFill>
            </a:endParaRPr>
          </a:p>
          <a:p>
            <a:pPr algn="l"/>
            <a:r>
              <a:rPr lang="en-US" sz="1600" b="1" dirty="0" smtClean="0">
                <a:solidFill>
                  <a:schemeClr val="tx1"/>
                </a:solidFill>
              </a:rPr>
              <a:t>Enterprise Application</a:t>
            </a:r>
          </a:p>
          <a:p>
            <a:pPr algn="l"/>
            <a:r>
              <a:rPr lang="en-US" sz="1600" dirty="0" smtClean="0">
                <a:solidFill>
                  <a:schemeClr val="tx1"/>
                </a:solidFill>
              </a:rPr>
              <a:t>An application that is distributed in nature, such as banking applications etc. It has the advantage of high level security, load balancing and clustering. In java, EJB is used for creating enterprise applications.</a:t>
            </a:r>
          </a:p>
          <a:p>
            <a:pPr algn="l"/>
            <a:r>
              <a:rPr lang="en-US" sz="1600" b="1" dirty="0" smtClean="0">
                <a:solidFill>
                  <a:schemeClr val="tx1"/>
                </a:solidFill>
              </a:rPr>
              <a:t>4) Mobile Application</a:t>
            </a:r>
          </a:p>
          <a:p>
            <a:pPr algn="l"/>
            <a:r>
              <a:rPr lang="en-US" sz="1600" dirty="0" smtClean="0">
                <a:solidFill>
                  <a:schemeClr val="tx1"/>
                </a:solidFill>
              </a:rPr>
              <a:t>An application that is created for mobile devices. Currently Android and Java ME are used for creating mobile applications.</a:t>
            </a:r>
          </a:p>
          <a:p>
            <a:r>
              <a:rPr lang="en-US" sz="1600" dirty="0" smtClean="0"/>
              <a:t/>
            </a:r>
            <a:br>
              <a:rPr lang="en-US" sz="1600" dirty="0" smtClean="0"/>
            </a:br>
            <a:endParaRPr lang="en-US" sz="1600" dirty="0" smtClean="0">
              <a:solidFill>
                <a:schemeClr val="tx1"/>
              </a:solidFill>
            </a:endParaRPr>
          </a:p>
          <a:p>
            <a:pPr algn="l"/>
            <a:endParaRPr lang="en-US" sz="1600" dirty="0" smtClean="0">
              <a:solidFill>
                <a:schemeClr val="tx1"/>
              </a:solidFill>
            </a:endParaRPr>
          </a:p>
          <a:p>
            <a:pPr algn="l"/>
            <a:endParaRPr lang="en-US" dirty="0" smtClean="0">
              <a:solidFill>
                <a:schemeClr val="tx1"/>
              </a:solidFill>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304800"/>
            <a:ext cx="5562600" cy="762000"/>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a:normAutofit fontScale="90000"/>
          </a:bodyPr>
          <a:lstStyle/>
          <a:p>
            <a:r>
              <a:rPr lang="en-US" sz="2200" b="1" dirty="0"/>
              <a:t>What is the Java Programming Environment?</a:t>
            </a:r>
            <a:r>
              <a:rPr lang="en-US" b="1" dirty="0"/>
              <a:t/>
            </a:r>
            <a:br>
              <a:rPr lang="en-US" b="1" dirty="0"/>
            </a:br>
            <a:endParaRPr lang="en-US" dirty="0"/>
          </a:p>
        </p:txBody>
      </p:sp>
      <p:sp>
        <p:nvSpPr>
          <p:cNvPr id="3" name="Subtitle 2"/>
          <p:cNvSpPr>
            <a:spLocks noGrp="1"/>
          </p:cNvSpPr>
          <p:nvPr>
            <p:ph type="subTitle" idx="1"/>
          </p:nvPr>
        </p:nvSpPr>
        <p:spPr>
          <a:xfrm>
            <a:off x="304800" y="2209800"/>
            <a:ext cx="8458200" cy="4343400"/>
          </a:xfrm>
        </p:spPr>
        <p:txBody>
          <a:bodyPr>
            <a:normAutofit/>
          </a:bodyPr>
          <a:lstStyle/>
          <a:p>
            <a:pPr algn="l"/>
            <a:r>
              <a:rPr lang="en-US" sz="2000" dirty="0">
                <a:solidFill>
                  <a:schemeClr val="tx1"/>
                </a:solidFill>
              </a:rPr>
              <a:t>Java is a recently developed, concurrent, class-based, object-oriented programming and runtime environment, consisting of:</a:t>
            </a:r>
          </a:p>
          <a:p>
            <a:pPr algn="l"/>
            <a:r>
              <a:rPr lang="en-US" sz="2000" dirty="0">
                <a:solidFill>
                  <a:schemeClr val="tx1"/>
                </a:solidFill>
              </a:rPr>
              <a:t>A programming language</a:t>
            </a:r>
          </a:p>
          <a:p>
            <a:pPr algn="l"/>
            <a:r>
              <a:rPr lang="en-US" sz="2000" dirty="0">
                <a:solidFill>
                  <a:schemeClr val="tx1"/>
                </a:solidFill>
              </a:rPr>
              <a:t>An API specification</a:t>
            </a:r>
          </a:p>
          <a:p>
            <a:pPr algn="l"/>
            <a:r>
              <a:rPr lang="en-US" sz="2000" dirty="0">
                <a:solidFill>
                  <a:schemeClr val="tx1"/>
                </a:solidFill>
              </a:rPr>
              <a:t>A virtual machine specification</a:t>
            </a:r>
          </a:p>
          <a:p>
            <a:pPr algn="l"/>
            <a:r>
              <a:rPr lang="en-US" sz="2000" dirty="0">
                <a:solidFill>
                  <a:schemeClr val="tx1"/>
                </a:solidFill>
              </a:rPr>
              <a:t>Java has the following characteristics: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991600" cy="6629400"/>
          </a:xfrm>
        </p:spPr>
        <p:txBody>
          <a:bodyPr>
            <a:normAutofit fontScale="47500" lnSpcReduction="20000"/>
          </a:bodyPr>
          <a:lstStyle/>
          <a:p>
            <a:pPr algn="l"/>
            <a:r>
              <a:rPr lang="en-US" b="1" dirty="0">
                <a:solidFill>
                  <a:schemeClr val="tx1"/>
                </a:solidFill>
              </a:rPr>
              <a:t>Object oriented</a:t>
            </a:r>
            <a:r>
              <a:rPr lang="en-US" dirty="0">
                <a:solidFill>
                  <a:schemeClr val="tx1"/>
                </a:solidFill>
              </a:rPr>
              <a:t> - Java provides the basic object technology of C++ with some enhancements and some deletions</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Architecture neutral</a:t>
            </a:r>
            <a:r>
              <a:rPr lang="en-US" dirty="0">
                <a:solidFill>
                  <a:schemeClr val="tx1"/>
                </a:solidFill>
              </a:rPr>
              <a:t> - Java source code is compiled into architecture-independent object code. The object code is interpreted by a Java Virtual Machine (JVM) on the target architecture</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Portable</a:t>
            </a:r>
            <a:r>
              <a:rPr lang="en-US" dirty="0">
                <a:solidFill>
                  <a:schemeClr val="tx1"/>
                </a:solidFill>
              </a:rPr>
              <a:t> - Java implements additional portability standards. For example, </a:t>
            </a:r>
            <a:r>
              <a:rPr lang="en-US" dirty="0" err="1">
                <a:solidFill>
                  <a:schemeClr val="tx1"/>
                </a:solidFill>
              </a:rPr>
              <a:t>ints</a:t>
            </a:r>
            <a:r>
              <a:rPr lang="en-US" dirty="0">
                <a:solidFill>
                  <a:schemeClr val="tx1"/>
                </a:solidFill>
              </a:rPr>
              <a:t> are always 32-bit, 2's-complemented integers. User interfaces are built through an abstract window system that is readily implemented in Solaris and other operating environments</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Distributed</a:t>
            </a:r>
            <a:r>
              <a:rPr lang="en-US" dirty="0">
                <a:solidFill>
                  <a:schemeClr val="tx1"/>
                </a:solidFill>
              </a:rPr>
              <a:t> - Java contains extensive TCP/IP networking facilities. Library routines support protocols such as </a:t>
            </a:r>
            <a:r>
              <a:rPr lang="en-US" dirty="0" err="1">
                <a:solidFill>
                  <a:schemeClr val="tx1"/>
                </a:solidFill>
              </a:rPr>
              <a:t>HyperText</a:t>
            </a:r>
            <a:r>
              <a:rPr lang="en-US" dirty="0">
                <a:solidFill>
                  <a:schemeClr val="tx1"/>
                </a:solidFill>
              </a:rPr>
              <a:t> Transfer Protocol (HTTP) and file transfer protocol (FTP</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Robust</a:t>
            </a:r>
            <a:r>
              <a:rPr lang="en-US" dirty="0">
                <a:solidFill>
                  <a:schemeClr val="tx1"/>
                </a:solidFill>
              </a:rPr>
              <a:t> - Both the Java compiler and the Java interpreter provide extensive error checking. Java manages all dynamic memory, checks array bounds, and other exceptions</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Secure</a:t>
            </a:r>
            <a:r>
              <a:rPr lang="en-US" dirty="0">
                <a:solidFill>
                  <a:schemeClr val="tx1"/>
                </a:solidFill>
              </a:rPr>
              <a:t> - Features of C and C++ that often result in illegal memory accesses are not in the Java language. The interpreter also applies several tests to the compiled code to check for illegal code. </a:t>
            </a:r>
            <a:endParaRPr lang="en-US" dirty="0" smtClean="0">
              <a:solidFill>
                <a:schemeClr val="tx1"/>
              </a:solidFill>
            </a:endParaRPr>
          </a:p>
          <a:p>
            <a:pPr algn="l"/>
            <a:r>
              <a:rPr lang="en-US" dirty="0" smtClean="0">
                <a:solidFill>
                  <a:schemeClr val="tx1"/>
                </a:solidFill>
              </a:rPr>
              <a:t>After </a:t>
            </a:r>
            <a:r>
              <a:rPr lang="en-US" dirty="0">
                <a:solidFill>
                  <a:schemeClr val="tx1"/>
                </a:solidFill>
              </a:rPr>
              <a:t>these tests, the compiled code causes no operand stack over- or underflows, performs no illegal data conversions, performs only legal object field accesses, and all </a:t>
            </a:r>
            <a:r>
              <a:rPr lang="en-US" dirty="0" err="1">
                <a:solidFill>
                  <a:schemeClr val="tx1"/>
                </a:solidFill>
              </a:rPr>
              <a:t>opcode</a:t>
            </a:r>
            <a:r>
              <a:rPr lang="en-US" dirty="0">
                <a:solidFill>
                  <a:schemeClr val="tx1"/>
                </a:solidFill>
              </a:rPr>
              <a:t> parameter types are verified as legal</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High performance</a:t>
            </a:r>
            <a:r>
              <a:rPr lang="en-US" dirty="0">
                <a:solidFill>
                  <a:schemeClr val="tx1"/>
                </a:solidFill>
              </a:rPr>
              <a:t> - Compilation of programs to an architecture independent machine-like language, results in a small efficient interpreter of Java programs. The Java environment also compiles the Java </a:t>
            </a:r>
            <a:r>
              <a:rPr lang="en-US" dirty="0" err="1">
                <a:solidFill>
                  <a:schemeClr val="tx1"/>
                </a:solidFill>
              </a:rPr>
              <a:t>bytecode</a:t>
            </a:r>
            <a:r>
              <a:rPr lang="en-US" dirty="0">
                <a:solidFill>
                  <a:schemeClr val="tx1"/>
                </a:solidFill>
              </a:rPr>
              <a:t> into native machine code at runtime</a:t>
            </a:r>
            <a:r>
              <a:rPr lang="en-US" dirty="0" smtClean="0">
                <a:solidFill>
                  <a:schemeClr val="tx1"/>
                </a:solidFill>
              </a:rPr>
              <a:t>.</a:t>
            </a:r>
          </a:p>
          <a:p>
            <a:pPr algn="l"/>
            <a:endParaRPr lang="en-US" dirty="0">
              <a:solidFill>
                <a:schemeClr val="tx1"/>
              </a:solidFill>
            </a:endParaRPr>
          </a:p>
          <a:p>
            <a:pPr algn="l"/>
            <a:r>
              <a:rPr lang="en-US" b="1" dirty="0">
                <a:solidFill>
                  <a:schemeClr val="tx1"/>
                </a:solidFill>
              </a:rPr>
              <a:t>Multithreaded</a:t>
            </a:r>
            <a:r>
              <a:rPr lang="en-US" dirty="0">
                <a:solidFill>
                  <a:schemeClr val="tx1"/>
                </a:solidFill>
              </a:rPr>
              <a:t> - Multithreading is built into the Java language. It can improve interactive performance by allowing operations, such as loading an image, to be performed while continuing to process user actions.</a:t>
            </a:r>
          </a:p>
          <a:p>
            <a:pPr algn="l"/>
            <a:r>
              <a:rPr lang="en-US" b="1" dirty="0">
                <a:solidFill>
                  <a:schemeClr val="tx1"/>
                </a:solidFill>
              </a:rPr>
              <a:t>Dynamic</a:t>
            </a:r>
            <a:r>
              <a:rPr lang="en-US" dirty="0">
                <a:solidFill>
                  <a:schemeClr val="tx1"/>
                </a:solidFill>
              </a:rPr>
              <a:t> - Java does not link invoked modules until runtime</a:t>
            </a:r>
            <a:r>
              <a:rPr lang="en-US" dirty="0" smtClean="0">
                <a:solidFill>
                  <a:schemeClr val="tx1"/>
                </a:solidFill>
              </a:rPr>
              <a:t>.</a:t>
            </a:r>
          </a:p>
          <a:p>
            <a:pPr algn="l"/>
            <a:endParaRPr lang="en-US" dirty="0" smtClean="0">
              <a:solidFill>
                <a:schemeClr val="tx1"/>
              </a:solidFill>
            </a:endParaRPr>
          </a:p>
          <a:p>
            <a:pPr algn="l"/>
            <a:endParaRPr lang="en-US" dirty="0">
              <a:solidFill>
                <a:schemeClr val="tx1"/>
              </a:solidFill>
            </a:endParaRPr>
          </a:p>
          <a:p>
            <a:pPr algn="l"/>
            <a:r>
              <a:rPr lang="en-US" b="1" dirty="0">
                <a:solidFill>
                  <a:schemeClr val="tx1"/>
                </a:solidFill>
              </a:rPr>
              <a:t>Simple</a:t>
            </a:r>
            <a:r>
              <a:rPr lang="en-US" dirty="0">
                <a:solidFill>
                  <a:schemeClr val="tx1"/>
                </a:solidFill>
              </a:rPr>
              <a:t> - Java is similar to C++, but with most of the more complex features of C and C++ removed.</a:t>
            </a:r>
          </a:p>
          <a:p>
            <a:pPr algn="l"/>
            <a:endParaRPr lang="en-US"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04800"/>
            <a:ext cx="8382000" cy="6096000"/>
          </a:xfrm>
        </p:spPr>
        <p:txBody>
          <a:bodyPr/>
          <a:lstStyle/>
          <a:p>
            <a:pPr algn="l"/>
            <a:r>
              <a:rPr lang="en-US" dirty="0">
                <a:solidFill>
                  <a:schemeClr val="tx1"/>
                </a:solidFill>
              </a:rPr>
              <a:t>Java does not provide:</a:t>
            </a:r>
          </a:p>
          <a:p>
            <a:pPr lvl="1" algn="l"/>
            <a:r>
              <a:rPr lang="en-US" dirty="0">
                <a:solidFill>
                  <a:schemeClr val="tx1"/>
                </a:solidFill>
              </a:rPr>
              <a:t>Programmer-controlled dynamic memory</a:t>
            </a:r>
          </a:p>
          <a:p>
            <a:pPr lvl="1" algn="l"/>
            <a:r>
              <a:rPr lang="en-US" dirty="0">
                <a:solidFill>
                  <a:schemeClr val="tx1"/>
                </a:solidFill>
              </a:rPr>
              <a:t>Pointer arithmetic</a:t>
            </a:r>
          </a:p>
          <a:p>
            <a:pPr lvl="1" algn="l"/>
            <a:r>
              <a:rPr lang="en-US" dirty="0" err="1">
                <a:solidFill>
                  <a:schemeClr val="tx1"/>
                </a:solidFill>
              </a:rPr>
              <a:t>struct</a:t>
            </a:r>
            <a:endParaRPr lang="en-US" dirty="0">
              <a:solidFill>
                <a:schemeClr val="tx1"/>
              </a:solidFill>
            </a:endParaRPr>
          </a:p>
          <a:p>
            <a:pPr lvl="1" algn="l"/>
            <a:r>
              <a:rPr lang="en-US" dirty="0" err="1">
                <a:solidFill>
                  <a:schemeClr val="tx1"/>
                </a:solidFill>
              </a:rPr>
              <a:t>typedefs</a:t>
            </a:r>
            <a:endParaRPr lang="en-US" dirty="0">
              <a:solidFill>
                <a:schemeClr val="tx1"/>
              </a:solidFill>
            </a:endParaRPr>
          </a:p>
          <a:p>
            <a:pPr lvl="1" algn="l"/>
            <a:r>
              <a:rPr lang="en-US" dirty="0">
                <a:solidFill>
                  <a:schemeClr val="tx1"/>
                </a:solidFill>
              </a:rPr>
              <a:t>#define</a:t>
            </a:r>
          </a:p>
          <a:p>
            <a:r>
              <a:rPr lang="en-US" dirty="0" smtClean="0"/>
              <a:t/>
            </a:r>
            <a:br>
              <a:rPr lang="en-US" dirty="0" smtClean="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533399"/>
          </a:xfrm>
        </p:spPr>
        <p:txBody>
          <a:bodyPr>
            <a:normAutofit fontScale="90000"/>
          </a:bodyPr>
          <a:lstStyle/>
          <a:p>
            <a:r>
              <a:rPr lang="en-US" b="1" dirty="0"/>
              <a:t>JDK</a:t>
            </a:r>
            <a:br>
              <a:rPr lang="en-US" b="1" dirty="0"/>
            </a:br>
            <a:endParaRPr lang="en-US" dirty="0"/>
          </a:p>
        </p:txBody>
      </p:sp>
      <p:sp>
        <p:nvSpPr>
          <p:cNvPr id="3" name="Subtitle 2"/>
          <p:cNvSpPr>
            <a:spLocks noGrp="1"/>
          </p:cNvSpPr>
          <p:nvPr>
            <p:ph type="subTitle" idx="1"/>
          </p:nvPr>
        </p:nvSpPr>
        <p:spPr>
          <a:xfrm>
            <a:off x="457200" y="609600"/>
            <a:ext cx="8458200" cy="5943600"/>
          </a:xfrm>
        </p:spPr>
        <p:txBody>
          <a:bodyPr/>
          <a:lstStyle/>
          <a:p>
            <a:pPr algn="l"/>
            <a:r>
              <a:rPr lang="en-US" sz="2000" dirty="0">
                <a:solidFill>
                  <a:schemeClr val="tx1"/>
                </a:solidFill>
              </a:rPr>
              <a:t>JDK contains everything that will be required to</a:t>
            </a:r>
            <a:r>
              <a:rPr lang="en-US" sz="2000" b="1" i="1" dirty="0">
                <a:solidFill>
                  <a:schemeClr val="tx1"/>
                </a:solidFill>
              </a:rPr>
              <a:t> develop and </a:t>
            </a:r>
            <a:r>
              <a:rPr lang="en-US" sz="2000" b="1" i="1" dirty="0" err="1">
                <a:solidFill>
                  <a:schemeClr val="tx1"/>
                </a:solidFill>
              </a:rPr>
              <a:t>run</a:t>
            </a:r>
            <a:r>
              <a:rPr lang="en-US" sz="2000" dirty="0" err="1">
                <a:solidFill>
                  <a:schemeClr val="tx1"/>
                </a:solidFill>
              </a:rPr>
              <a:t>Java</a:t>
            </a:r>
            <a:r>
              <a:rPr lang="en-US" sz="2000" dirty="0">
                <a:solidFill>
                  <a:schemeClr val="tx1"/>
                </a:solidFill>
              </a:rPr>
              <a:t> application</a:t>
            </a:r>
            <a:r>
              <a:rPr lang="en-US" sz="2000" dirty="0" smtClean="0">
                <a:solidFill>
                  <a:schemeClr val="tx1"/>
                </a:solidFill>
              </a:rPr>
              <a:t>.</a:t>
            </a:r>
          </a:p>
          <a:p>
            <a:pPr algn="l"/>
            <a:endParaRPr lang="en-US" sz="2000" dirty="0">
              <a:solidFill>
                <a:schemeClr val="tx1"/>
              </a:solidFill>
            </a:endParaRPr>
          </a:p>
          <a:p>
            <a:pPr algn="l"/>
            <a:r>
              <a:rPr lang="en-US" sz="2000" b="1" dirty="0">
                <a:solidFill>
                  <a:schemeClr val="tx1"/>
                </a:solidFill>
              </a:rPr>
              <a:t>JRE (Java Run time Environment)</a:t>
            </a:r>
          </a:p>
          <a:p>
            <a:pPr algn="l"/>
            <a:r>
              <a:rPr lang="en-US" sz="2000" dirty="0">
                <a:solidFill>
                  <a:schemeClr val="tx1"/>
                </a:solidFill>
              </a:rPr>
              <a:t>JRE contains everything required to </a:t>
            </a:r>
            <a:r>
              <a:rPr lang="en-US" sz="2000" b="1" i="1" dirty="0">
                <a:solidFill>
                  <a:schemeClr val="tx1"/>
                </a:solidFill>
              </a:rPr>
              <a:t>run</a:t>
            </a:r>
            <a:r>
              <a:rPr lang="en-US" sz="2000" dirty="0">
                <a:solidFill>
                  <a:schemeClr val="tx1"/>
                </a:solidFill>
              </a:rPr>
              <a:t> Java application which has already been compiled. It doesn’t contain the code library required to develop Java application</a:t>
            </a:r>
            <a:r>
              <a:rPr lang="en-US" sz="2000" dirty="0" smtClean="0">
                <a:solidFill>
                  <a:schemeClr val="tx1"/>
                </a:solidFill>
              </a:rPr>
              <a:t>.</a:t>
            </a:r>
          </a:p>
          <a:p>
            <a:pPr algn="l"/>
            <a:r>
              <a:rPr lang="en-US" sz="2000" b="1" dirty="0">
                <a:solidFill>
                  <a:schemeClr val="tx1"/>
                </a:solidFill>
              </a:rPr>
              <a:t>JVM (Java Virtual Machine)</a:t>
            </a:r>
          </a:p>
          <a:p>
            <a:pPr algn="l"/>
            <a:r>
              <a:rPr lang="en-US" sz="2000" dirty="0">
                <a:solidFill>
                  <a:schemeClr val="tx1"/>
                </a:solidFill>
              </a:rPr>
              <a:t>JVM is a virtual machine which work on top of your operating system to provide a recommended environment for your compiled Java code. </a:t>
            </a:r>
            <a:endParaRPr lang="en-US" sz="2000" dirty="0" smtClean="0">
              <a:solidFill>
                <a:schemeClr val="tx1"/>
              </a:solidFill>
            </a:endParaRPr>
          </a:p>
          <a:p>
            <a:pPr algn="l"/>
            <a:r>
              <a:rPr lang="en-US" sz="2000" dirty="0" smtClean="0">
                <a:solidFill>
                  <a:schemeClr val="tx1"/>
                </a:solidFill>
              </a:rPr>
              <a:t>JVM </a:t>
            </a:r>
            <a:r>
              <a:rPr lang="en-US" sz="2000" dirty="0">
                <a:solidFill>
                  <a:schemeClr val="tx1"/>
                </a:solidFill>
              </a:rPr>
              <a:t>only works with </a:t>
            </a:r>
            <a:r>
              <a:rPr lang="en-US" sz="2000" dirty="0" err="1">
                <a:solidFill>
                  <a:schemeClr val="tx1"/>
                </a:solidFill>
              </a:rPr>
              <a:t>bytecode</a:t>
            </a:r>
            <a:r>
              <a:rPr lang="en-US" sz="2000" dirty="0">
                <a:solidFill>
                  <a:schemeClr val="tx1"/>
                </a:solidFill>
              </a:rPr>
              <a:t>. Hence you need to compile your Java application(.java) so that it can be converted to </a:t>
            </a:r>
            <a:r>
              <a:rPr lang="en-US" sz="2000" dirty="0" err="1">
                <a:solidFill>
                  <a:schemeClr val="tx1"/>
                </a:solidFill>
              </a:rPr>
              <a:t>bytecode</a:t>
            </a:r>
            <a:r>
              <a:rPr lang="en-US" sz="2000" dirty="0">
                <a:solidFill>
                  <a:schemeClr val="tx1"/>
                </a:solidFill>
              </a:rPr>
              <a:t> format (also known as the .class file). </a:t>
            </a:r>
            <a:endParaRPr lang="en-US" sz="2000" dirty="0" smtClean="0">
              <a:solidFill>
                <a:schemeClr val="tx1"/>
              </a:solidFill>
            </a:endParaRPr>
          </a:p>
          <a:p>
            <a:pPr algn="l"/>
            <a:r>
              <a:rPr lang="en-US" sz="2000" dirty="0" smtClean="0">
                <a:solidFill>
                  <a:schemeClr val="tx1"/>
                </a:solidFill>
              </a:rPr>
              <a:t>Which </a:t>
            </a:r>
            <a:r>
              <a:rPr lang="en-US" sz="2000" dirty="0">
                <a:solidFill>
                  <a:schemeClr val="tx1"/>
                </a:solidFill>
              </a:rPr>
              <a:t>then will be used by JVM to run application. </a:t>
            </a:r>
            <a:endParaRPr lang="en-US" sz="2000" dirty="0" smtClean="0">
              <a:solidFill>
                <a:schemeClr val="tx1"/>
              </a:solidFill>
            </a:endParaRPr>
          </a:p>
          <a:p>
            <a:pPr algn="l"/>
            <a:r>
              <a:rPr lang="en-US" sz="2000" dirty="0" smtClean="0">
                <a:solidFill>
                  <a:schemeClr val="tx1"/>
                </a:solidFill>
              </a:rPr>
              <a:t>JVM </a:t>
            </a:r>
            <a:r>
              <a:rPr lang="en-US" sz="2000" dirty="0">
                <a:solidFill>
                  <a:schemeClr val="tx1"/>
                </a:solidFill>
              </a:rPr>
              <a:t>only provide the environment It needs the Java code library to run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685799"/>
          </a:xfrm>
        </p:spPr>
        <p:txBody>
          <a:bodyPr>
            <a:normAutofit fontScale="90000"/>
          </a:bodyPr>
          <a:lstStyle/>
          <a:p>
            <a:r>
              <a:rPr lang="en-US" sz="2700" b="1" dirty="0"/>
              <a:t>JDK </a:t>
            </a:r>
            <a:r>
              <a:rPr lang="en-US" sz="2700" b="1" dirty="0" err="1"/>
              <a:t>vs</a:t>
            </a:r>
            <a:r>
              <a:rPr lang="en-US" sz="2700" b="1" dirty="0"/>
              <a:t> JRE </a:t>
            </a:r>
            <a:r>
              <a:rPr lang="en-US" sz="2700" b="1" dirty="0" err="1"/>
              <a:t>vs</a:t>
            </a:r>
            <a:r>
              <a:rPr lang="en-US" sz="2700" b="1" dirty="0"/>
              <a:t> JVM</a:t>
            </a:r>
            <a:r>
              <a:rPr lang="en-US" b="1" dirty="0"/>
              <a:t/>
            </a:r>
            <a:br>
              <a:rPr lang="en-US" b="1" dirty="0"/>
            </a:br>
            <a:endParaRPr lang="en-US" dirty="0"/>
          </a:p>
        </p:txBody>
      </p:sp>
      <p:sp>
        <p:nvSpPr>
          <p:cNvPr id="3" name="Subtitle 2"/>
          <p:cNvSpPr>
            <a:spLocks noGrp="1"/>
          </p:cNvSpPr>
          <p:nvPr>
            <p:ph type="subTitle" idx="1"/>
          </p:nvPr>
        </p:nvSpPr>
        <p:spPr>
          <a:xfrm>
            <a:off x="381000" y="609600"/>
            <a:ext cx="8458200" cy="5943600"/>
          </a:xfrm>
        </p:spPr>
        <p:txBody>
          <a:bodyPr/>
          <a:lstStyle/>
          <a:p>
            <a:endParaRPr lang="en-US" dirty="0"/>
          </a:p>
        </p:txBody>
      </p:sp>
      <p:pic>
        <p:nvPicPr>
          <p:cNvPr id="1026" name="Picture 2" descr="C:\Users\FIIT\Desktop\JDK_JRE_JVM.jpg"/>
          <p:cNvPicPr>
            <a:picLocks noChangeAspect="1" noChangeArrowheads="1"/>
          </p:cNvPicPr>
          <p:nvPr/>
        </p:nvPicPr>
        <p:blipFill>
          <a:blip r:embed="rId2"/>
          <a:srcRect/>
          <a:stretch>
            <a:fillRect/>
          </a:stretch>
        </p:blipFill>
        <p:spPr bwMode="auto">
          <a:xfrm>
            <a:off x="609600" y="762001"/>
            <a:ext cx="8229600" cy="5562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381000"/>
            <a:ext cx="8458200" cy="6248400"/>
          </a:xfrm>
        </p:spPr>
        <p:txBody>
          <a:bodyPr/>
          <a:lstStyle/>
          <a:p>
            <a:pPr algn="l"/>
            <a:r>
              <a:rPr lang="en-US" dirty="0">
                <a:solidFill>
                  <a:schemeClr val="tx1"/>
                </a:solidFill>
              </a:rPr>
              <a:t>Now as per diagram you can identify what is the difference.</a:t>
            </a:r>
          </a:p>
          <a:p>
            <a:pPr algn="l"/>
            <a:r>
              <a:rPr lang="en-US" dirty="0">
                <a:solidFill>
                  <a:schemeClr val="tx1"/>
                </a:solidFill>
              </a:rPr>
              <a:t>JRE = JVM + Required Library to run Application.</a:t>
            </a:r>
          </a:p>
          <a:p>
            <a:pPr algn="l"/>
            <a:r>
              <a:rPr lang="en-US" dirty="0">
                <a:solidFill>
                  <a:schemeClr val="tx1"/>
                </a:solidFill>
              </a:rPr>
              <a:t>JDK = JRE + Required Library to develop Java Application.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86800" cy="6324600"/>
          </a:xfrm>
        </p:spPr>
        <p:txBody>
          <a:bodyPr>
            <a:normAutofit lnSpcReduction="10000"/>
          </a:bodyPr>
          <a:lstStyle/>
          <a:p>
            <a:pPr algn="l"/>
            <a:r>
              <a:rPr lang="en-US" sz="2000" b="1" dirty="0">
                <a:solidFill>
                  <a:schemeClr val="accent6">
                    <a:lumMod val="75000"/>
                  </a:schemeClr>
                </a:solidFill>
              </a:rPr>
              <a:t>Java Portability</a:t>
            </a:r>
          </a:p>
          <a:p>
            <a:pPr algn="l"/>
            <a:r>
              <a:rPr lang="en-US" sz="2000" dirty="0">
                <a:solidFill>
                  <a:schemeClr val="tx1"/>
                </a:solidFill>
              </a:rPr>
              <a:t>In order to understand portability in Java you need to understand what happens to java code from start to finish</a:t>
            </a:r>
            <a:r>
              <a:rPr lang="en-US" sz="2000" dirty="0" smtClean="0">
                <a:solidFill>
                  <a:schemeClr val="tx1"/>
                </a:solidFill>
              </a:rPr>
              <a:t>.</a:t>
            </a:r>
          </a:p>
          <a:p>
            <a:pPr algn="l"/>
            <a:endParaRPr lang="en-US" sz="2000" dirty="0">
              <a:solidFill>
                <a:schemeClr val="tx1"/>
              </a:solidFill>
            </a:endParaRPr>
          </a:p>
          <a:p>
            <a:pPr algn="l"/>
            <a:r>
              <a:rPr lang="en-US" sz="2000" dirty="0">
                <a:solidFill>
                  <a:schemeClr val="tx1"/>
                </a:solidFill>
              </a:rPr>
              <a:t>1- Java Source Code (Written by Developer) (Machine Neutral)</a:t>
            </a:r>
          </a:p>
          <a:p>
            <a:pPr algn="l"/>
            <a:r>
              <a:rPr lang="en-US" sz="2000" dirty="0">
                <a:solidFill>
                  <a:schemeClr val="tx1"/>
                </a:solidFill>
              </a:rPr>
              <a:t>2- Compiled Code / Byte Code (Compiled by </a:t>
            </a:r>
            <a:r>
              <a:rPr lang="en-US" sz="2000" dirty="0" err="1">
                <a:solidFill>
                  <a:schemeClr val="tx1"/>
                </a:solidFill>
              </a:rPr>
              <a:t>javac</a:t>
            </a:r>
            <a:r>
              <a:rPr lang="en-US" sz="2000" dirty="0">
                <a:solidFill>
                  <a:schemeClr val="tx1"/>
                </a:solidFill>
              </a:rPr>
              <a:t>) . (Machine Neutral)</a:t>
            </a:r>
          </a:p>
          <a:p>
            <a:pPr algn="l"/>
            <a:r>
              <a:rPr lang="en-US" sz="2000" dirty="0">
                <a:solidFill>
                  <a:schemeClr val="tx1"/>
                </a:solidFill>
              </a:rPr>
              <a:t>3- Byte Code executed (Executed by JVM) (Machine Specific</a:t>
            </a:r>
            <a:r>
              <a:rPr lang="en-US" sz="2000" dirty="0" smtClean="0">
                <a:solidFill>
                  <a:schemeClr val="tx1"/>
                </a:solidFill>
              </a:rPr>
              <a:t>)</a:t>
            </a:r>
          </a:p>
          <a:p>
            <a:pPr algn="l"/>
            <a:endParaRPr lang="en-US" sz="2000" dirty="0">
              <a:solidFill>
                <a:schemeClr val="tx1"/>
              </a:solidFill>
            </a:endParaRPr>
          </a:p>
          <a:p>
            <a:pPr algn="l"/>
            <a:r>
              <a:rPr lang="en-US" sz="2000" dirty="0">
                <a:solidFill>
                  <a:schemeClr val="tx1"/>
                </a:solidFill>
              </a:rPr>
              <a:t>In step 2, </a:t>
            </a:r>
            <a:r>
              <a:rPr lang="en-US" sz="2000" dirty="0" err="1">
                <a:solidFill>
                  <a:schemeClr val="tx1"/>
                </a:solidFill>
              </a:rPr>
              <a:t>javac</a:t>
            </a:r>
            <a:r>
              <a:rPr lang="en-US" sz="2000" dirty="0">
                <a:solidFill>
                  <a:schemeClr val="tx1"/>
                </a:solidFill>
              </a:rPr>
              <a:t> (Java Compiler) converts Java code to byte code. This can be moved to any machine(Windows / Linux) and executed by JVM. </a:t>
            </a:r>
            <a:endParaRPr lang="en-US" sz="2000" dirty="0" smtClean="0">
              <a:solidFill>
                <a:schemeClr val="tx1"/>
              </a:solidFill>
            </a:endParaRPr>
          </a:p>
          <a:p>
            <a:pPr algn="l"/>
            <a:endParaRPr lang="en-US" sz="2000" dirty="0" smtClean="0">
              <a:solidFill>
                <a:schemeClr val="tx1"/>
              </a:solidFill>
            </a:endParaRPr>
          </a:p>
          <a:p>
            <a:pPr algn="l"/>
            <a:r>
              <a:rPr lang="en-US" sz="2000" dirty="0" smtClean="0">
                <a:solidFill>
                  <a:schemeClr val="tx1"/>
                </a:solidFill>
              </a:rPr>
              <a:t>JVM </a:t>
            </a:r>
            <a:r>
              <a:rPr lang="en-US" sz="2000" dirty="0">
                <a:solidFill>
                  <a:schemeClr val="tx1"/>
                </a:solidFill>
              </a:rPr>
              <a:t>reads the </a:t>
            </a:r>
            <a:r>
              <a:rPr lang="en-US" sz="2000" dirty="0" err="1">
                <a:solidFill>
                  <a:schemeClr val="tx1"/>
                </a:solidFill>
              </a:rPr>
              <a:t>bytecode</a:t>
            </a:r>
            <a:r>
              <a:rPr lang="en-US" sz="2000" dirty="0">
                <a:solidFill>
                  <a:schemeClr val="tx1"/>
                </a:solidFill>
              </a:rPr>
              <a:t> and generates machine specific code. In order to generate machine specific code JVM needs to be machine specific. </a:t>
            </a:r>
            <a:endParaRPr lang="en-US" sz="2000" dirty="0" smtClean="0">
              <a:solidFill>
                <a:schemeClr val="tx1"/>
              </a:solidFill>
            </a:endParaRPr>
          </a:p>
          <a:p>
            <a:pPr algn="l"/>
            <a:endParaRPr lang="en-US" sz="2000" dirty="0" smtClean="0">
              <a:solidFill>
                <a:schemeClr val="tx1"/>
              </a:solidFill>
            </a:endParaRPr>
          </a:p>
          <a:p>
            <a:pPr algn="l"/>
            <a:r>
              <a:rPr lang="en-US" sz="2000" dirty="0" smtClean="0">
                <a:solidFill>
                  <a:schemeClr val="tx1"/>
                </a:solidFill>
              </a:rPr>
              <a:t>So </a:t>
            </a:r>
            <a:r>
              <a:rPr lang="en-US" sz="2000" dirty="0">
                <a:solidFill>
                  <a:schemeClr val="tx1"/>
                </a:solidFill>
              </a:rPr>
              <a:t>every type of Machine(Windows / Linux / Mac) has a specific JVM. So in this way the coder doesn’t need to bother with generating byte code. </a:t>
            </a:r>
            <a:endParaRPr lang="en-US" sz="2000" dirty="0" smtClean="0">
              <a:solidFill>
                <a:schemeClr val="tx1"/>
              </a:solidFill>
            </a:endParaRPr>
          </a:p>
          <a:p>
            <a:pPr algn="l"/>
            <a:endParaRPr lang="en-US" sz="2000" dirty="0" smtClean="0">
              <a:solidFill>
                <a:schemeClr val="tx1"/>
              </a:solidFill>
            </a:endParaRPr>
          </a:p>
          <a:p>
            <a:pPr algn="l"/>
            <a:r>
              <a:rPr lang="en-US" sz="2000" dirty="0" smtClean="0">
                <a:solidFill>
                  <a:schemeClr val="tx1"/>
                </a:solidFill>
              </a:rPr>
              <a:t>JVM </a:t>
            </a:r>
            <a:r>
              <a:rPr lang="en-US" sz="2000" dirty="0">
                <a:solidFill>
                  <a:schemeClr val="tx1"/>
                </a:solidFill>
              </a:rPr>
              <a:t>takes care of portability. So the final answer is Java is Portable but JVM is Machine Specific.</a:t>
            </a:r>
          </a:p>
          <a:p>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435</Words>
  <Application>Microsoft Office PowerPoint</Application>
  <PresentationFormat>On-screen Show (4:3)</PresentationFormat>
  <Paragraphs>91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Introduction to java</vt:lpstr>
      <vt:lpstr>What is java</vt:lpstr>
      <vt:lpstr>Slide 3</vt:lpstr>
      <vt:lpstr>Slide 4</vt:lpstr>
      <vt:lpstr>What is the Java Programming Environment? </vt:lpstr>
      <vt:lpstr>Slide 6</vt:lpstr>
      <vt:lpstr>Slide 7</vt:lpstr>
      <vt:lpstr>JDK </vt:lpstr>
      <vt:lpstr>JDK vs JRE vs JVM </vt:lpstr>
      <vt:lpstr>Slide 10</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dc:title>
  <dc:creator>FIIT</dc:creator>
  <cp:lastModifiedBy>FIIT</cp:lastModifiedBy>
  <cp:revision>9</cp:revision>
  <dcterms:created xsi:type="dcterms:W3CDTF">2016-05-26T03:10:48Z</dcterms:created>
  <dcterms:modified xsi:type="dcterms:W3CDTF">2016-08-08T11:04:57Z</dcterms:modified>
</cp:coreProperties>
</file>